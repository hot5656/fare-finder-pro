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封面。這一版涵蓋全部功能：使用者端（免費與付費）、管理員後台、系統運作與品質。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用「你上次買機票查了幾天？」開場，讓聽眾回想自己手動比價的經驗。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目前網站是免費模式；付費模式（綠界）已完成並驗證，管理員可隨時切回。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首頁第一張卡片不限台北出發，口頭補充目前也有東京 ✈ 紐約。第三張卡片的文字依「使用綠界付款」開關切換：截圖是免費模式（「目前免費使用，不想用隨時停。」），付費模式顯示「月訂閱制，不想用隨時停，沒有綁約。」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右下是倫敦卡片的實際畫面：9/25 之後查不到 10 月的票價，所以顯示暫無最新票價。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信件內容：NT$ 票價、約當 US$、你的目標價；航班詳情；黃色提醒：票價只適用這組日期；「立即訂購」直接帶到訂票搜尋頁。實際價格以訂購頁為準。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紅框的狀態會收到降價通知：免費有效中、付費已訂閱，以及付費已取消但還在已付款期間內。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取消信：免費版寫「降價通知即刻停止」；付費版寫「已付款期間內仍會收到通知」。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輸入空白、0 或負數會顯示「請輸入有效的目標價」。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付費模式截圖是 2026-09-21 拍的，卡片文字是舊版（「目標價 TWD」「最後查詢：」，現在是「來回目標價 TWD」「最後查詢（來回）」），流程與按鈕相同。綠界收銀台已裁掉卡片欄位。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達標後不想每天收到提醒，就把目標價調低到低於目前最低價。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權限檢查在資料庫（flight.is_admin() + RLS），畫面上的按鈕只是方便進入。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「使用綠界付款」就是 Slide 7 兩種模式的切換開關，立即套用於之後的新訂閱。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截圖時只按了「查詢價格」，沒有新增福岡。列表中的台北 ✈ 大阪是 2026-09-26 測試時新增、測完停用的（航線不能刪除）。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「強制到期」只在測試開關開啟時出現（截圖時開啟，現在已關閉），可把已取消的訂閱立即改為已結束並寄到期信。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右圖的警告就是倫敦查無 10 月票價，也就是 Slide 5「暫無最新票價」的原因。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數字取自 docs/test-report.md（2026-09-26 更新，全部章節）。部分驗證的 3 項：H3（USD 取價失敗仍寄 TWD 通知，僅程式碼審查）、AD-04（查價健康橫幅的兩種錯誤狀態）、AD-06（新增航線預覽的 422／409）。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備用：要錢嗎（目前免費）、多久查一次（約 30 分鐘）、價格準嗎（以訂購頁為準）、會一直寄嗎（約 24 小時一封，大幅再降才提早）、可以追多條嗎（可以）。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機票降價通知 ・ 系統全功能介紹 v1.1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Flight Price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Notifier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設定航線與目標價，機票降價就通知你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690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使用者功能 ・ 操作教學 ・ 管理員後台 ・ 系統運作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80060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800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flights.roberthut.com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Robert Kao ｜ 2026-09-26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08192" y="1673352"/>
            <a:ext cx="5614416" cy="3557016"/>
          </a:xfrm>
          <a:prstGeom prst="roundRect">
            <a:avLst>
              <a:gd name="adj" fmla="val 3085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0" descr="首頁：Flight Price Notifier，設定航線與目標價，機票降價就通知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73736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1 ・ 開場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你是不是也這樣買機票？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822960" cy="822960"/>
          </a:xfrm>
          <a:prstGeom prst="ellipse">
            <a:avLst/>
          </a:prstGeom>
          <a:solidFill>
            <a:srgbClr val="E5352F">
              <a:alpha val="20000"/>
            </a:srgbClr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📈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價格天天變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機票價格每天浮動，只能一直手動刷網站。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03120"/>
            <a:ext cx="822960" cy="822960"/>
          </a:xfrm>
          <a:prstGeom prst="ellipse">
            <a:avLst/>
          </a:prstGeom>
          <a:solidFill>
            <a:srgbClr val="E5352F">
              <a:alpha val="20000"/>
            </a:srgbClr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💰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只在意預算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657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其實不在意哪天飛，只想用預算內的價格出發。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103120"/>
            <a:ext cx="822960" cy="822960"/>
          </a:xfrm>
          <a:prstGeom prst="ellipse">
            <a:avLst/>
          </a:prstGeom>
          <a:solidFill>
            <a:srgbClr val="E5352F">
              <a:alpha val="20000"/>
            </a:srgbClr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😩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一錯過就多花好幾千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657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一不注意低價就沒了，最後多付好幾千。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「你上次買機票，查了幾天？」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1 ・ 開場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一句話介紹與今天的範圍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幫你盯著熱門航線，</a:t>
            </a:r>
            <a:pPr indent="0" marL="0">
              <a:buNone/>
            </a:pPr>
            <a:r>
              <a:rPr lang="en-US" sz="24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來回最低價</a:t>
            </a:r>
            <a:pPr indent="0" marL="0">
              <a:buNone/>
            </a:pPr>
            <a:r>
              <a:rPr lang="en-US" sz="24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低於你的目標價</a:t>
            </a:r>
            <a:pPr indent="0" marL="0">
              <a:buNone/>
            </a:pPr>
            <a:r>
              <a:rPr lang="en-US" sz="24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，就寄 email 通知你。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0E4A50"/>
          </a:solidFill>
          <a:ln w="19050">
            <a:solidFill>
              <a:srgbClr val="E535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免費模式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44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目前上線中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一次一個月，到期可無限次免費重新訂閱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233172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0E4A50"/>
          </a:solidFill>
          <a:ln w="1905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6616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付費模式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944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綠界信用卡定期定額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337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NT$300／月，每月自動續扣，隨時取消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80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管理員在後台一鍵切換兩種模式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331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今天的四段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0" y="2788920"/>
            <a:ext cx="502920" cy="50292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2761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使用者功能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3081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航線、通知信、訂閱模式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3657600"/>
            <a:ext cx="502920" cy="50292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630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使用者操作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950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註冊、登入、追蹤、管理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0" y="4526280"/>
            <a:ext cx="502920" cy="50292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4498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管理員後台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航線、訂閱、用戶、紀錄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0" y="5394960"/>
            <a:ext cx="502920" cy="50292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5367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系統運作與品質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5687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架構、資料流程、安全、測試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2 ・ 使用者功能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三大功能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77240" cy="777240"/>
          </a:xfrm>
          <a:prstGeom prst="ellipse">
            <a:avLst/>
          </a:prstGeom>
          <a:solidFill>
            <a:srgbClr val="E5352F">
              <a:alpha val="20000"/>
            </a:srgbClr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✈️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733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盯緊熱門航線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214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自動查詢熱門航線的來回最低票價。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777240" cy="777240"/>
          </a:xfrm>
          <a:prstGeom prst="ellipse">
            <a:avLst/>
          </a:prstGeom>
          <a:solidFill>
            <a:srgbClr val="E5352F">
              <a:alpha val="20000"/>
            </a:srgbClr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🔔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1363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達標自動通知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58444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低於你設定的目標價，就寄 email，附「立即訂購」連結。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777240" cy="777240"/>
          </a:xfrm>
          <a:prstGeom prst="ellipse">
            <a:avLst/>
          </a:prstGeom>
          <a:solidFill>
            <a:srgbClr val="E5352F">
              <a:alpha val="20000"/>
            </a:srgbClr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17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🚫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5994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隨時取消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504748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不想收了，一鍵取消。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36792" y="1536192"/>
            <a:ext cx="5340096" cy="4285319"/>
          </a:xfrm>
          <a:prstGeom prst="roundRect">
            <a:avLst>
              <a:gd name="adj" fmla="val 2561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首頁全頁與三張功能卡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00200"/>
            <a:ext cx="5212080" cy="41573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2 ・ 使用者功能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可以追蹤哪些航線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749808"/>
          </a:xfrm>
          <a:prstGeom prst="roundRect">
            <a:avLst>
              <a:gd name="adj" fmla="val 14634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台北 ✈ 東京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37560" y="1600200"/>
            <a:ext cx="2606040" cy="749808"/>
          </a:xfrm>
          <a:prstGeom prst="roundRect">
            <a:avLst>
              <a:gd name="adj" fmla="val 14634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337560" y="160020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台北 ✈ 首爾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2606040" cy="749808"/>
          </a:xfrm>
          <a:prstGeom prst="roundRect">
            <a:avLst>
              <a:gd name="adj" fmla="val 14634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48640" y="251460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台北 ✈ 倫敦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37560" y="2514600"/>
            <a:ext cx="2606040" cy="749808"/>
          </a:xfrm>
          <a:prstGeom prst="roundRect">
            <a:avLst>
              <a:gd name="adj" fmla="val 14634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37560" y="251460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東京 ✈ 紐約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航線由管理員從後台新增，不用改程式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每條航線各自設定目標價、各自訂閱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來回・新台幣計價（附美金參考）・約每 30 分鐘更新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0E4A50"/>
          </a:solidFill>
          <a:ln w="19050">
            <a:solidFill>
              <a:srgbClr val="F2B2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8006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B23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v1.1 新增：暫無最新票價提示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2120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某條航線超過 2 小時查不到新票價，卡片會顯示「目前暫無最新票價，系統仍會持續查詢。」，價格改標「上次查到」。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91072" y="1536192"/>
            <a:ext cx="5431536" cy="3442716"/>
          </a:xfrm>
          <a:prstGeom prst="roundRect">
            <a:avLst>
              <a:gd name="adj" fmla="val 3187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Dashboard 上的四條航線卡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600200"/>
            <a:ext cx="5303520" cy="33147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754112" y="5056632"/>
            <a:ext cx="2505456" cy="1481195"/>
          </a:xfrm>
          <a:prstGeom prst="roundRect">
            <a:avLst>
              <a:gd name="adj" fmla="val 7408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1" descr="倫敦航線卡片：目前暫無最新票價，系統仍會持續查詢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5120640"/>
            <a:ext cx="2377440" cy="13531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2 ・ 使用者功能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降價通知信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536192"/>
            <a:ext cx="6437376" cy="4183263"/>
          </a:xfrm>
          <a:prstGeom prst="roundRect">
            <a:avLst>
              <a:gd name="adj" fmla="val 2623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降價通知信：台北到東京 NT$6,938 已達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6309360" cy="40552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69480" y="1600200"/>
            <a:ext cx="4343400" cy="1417320"/>
          </a:xfrm>
          <a:prstGeom prst="roundRect">
            <a:avLst>
              <a:gd name="adj" fmla="val 7742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98080" y="1755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通知頻率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13055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價格仍低於目標價時，約每 24 小時提醒一次；再大幅下降（降 20% 以上或少 NT$2,000 以上）會提早通知。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269480" y="3172968"/>
            <a:ext cx="4343400" cy="1417320"/>
          </a:xfrm>
          <a:prstGeom prst="roundRect">
            <a:avLst>
              <a:gd name="adj" fmla="val 7742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498080" y="33284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不想每天收到？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37033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把目標價調低到你真正想買的價格，價格再降時才通知；不需要了也可以隨時取消。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269480" y="4745736"/>
            <a:ext cx="4343400" cy="1417320"/>
          </a:xfrm>
          <a:prstGeom prst="roundRect">
            <a:avLst>
              <a:gd name="adj" fmla="val 7742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98080" y="49011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回程日期不理想？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527608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在訂票頁調整日期比價，有機會找到仍在預算內的組合（通常不會比通知價更低）。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2 ・ 使用者功能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兩種訂閱模式比較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389120"/>
                <a:gridCol w="49377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5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免費模式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5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付費模式（綠界）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52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開始方式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按「開始免費追蹤（一個月）」立即生效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按「開始追蹤」→ 綠界收銀台付款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費用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免費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NT$300／月，信用卡定期定額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期間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一個月，到期自動結束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每月自動續扣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取消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立即停止通知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停止之後的扣款，已付款期間內仍通知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到期後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「免費重新訂閱」，次數不限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「重新訂閱」，重新付款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卡片標籤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免費 · 有效至 yyyy/mm/dd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已訂閱（有效）／已取消 · 有效至 yyyy/mm/dd</a:t>
                      </a:r>
                      <a:endParaRPr lang="en-US" sz="14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管理員切回付費模式時，既有的免費訂閱保留到各自的到期日。目前綠界使用測試特店，不會真的扣款。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2 ・ 使用者功能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訂閱狀態流程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019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免費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1783080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0E4A50"/>
          </a:solidFill>
          <a:ln w="25400">
            <a:solidFill>
              <a:srgbClr val="2262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1783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尚未訂閱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783080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0E4A50"/>
          </a:solidFill>
          <a:ln w="25400">
            <a:solidFill>
              <a:srgbClr val="E535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783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免費 · 有效中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1783080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0E4A50"/>
          </a:solidFill>
          <a:ln w="25400">
            <a:solidFill>
              <a:srgbClr val="2262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0" y="1783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已結束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784080" y="1783080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0E4A50"/>
          </a:solidFill>
          <a:ln w="25400">
            <a:solidFill>
              <a:srgbClr val="E535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84080" y="1783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免費 · 有效中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94760" y="2066544"/>
            <a:ext cx="640080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566160" y="14721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開始追蹤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46520" y="2066544"/>
            <a:ext cx="640080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217920" y="14721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到期或取消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98280" y="2066544"/>
            <a:ext cx="640080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8869680" y="14721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重新訂閱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0449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付費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828800" y="2926080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0E4A50"/>
          </a:solidFill>
          <a:ln w="25400">
            <a:solidFill>
              <a:srgbClr val="2262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828800" y="2926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未完成付款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80560" y="2926080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0E4A50"/>
          </a:solidFill>
          <a:ln w="25400">
            <a:solidFill>
              <a:srgbClr val="E535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80560" y="2926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已訂閱（有效）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32320" y="2926080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0E4A50"/>
          </a:solidFill>
          <a:ln w="25400">
            <a:solidFill>
              <a:srgbClr val="E5352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0" y="2926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已取消（有效至到期日）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784080" y="2926080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0E4A50"/>
          </a:solidFill>
          <a:ln w="25400">
            <a:solidFill>
              <a:srgbClr val="2262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84080" y="2926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已結束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794760" y="3209544"/>
            <a:ext cx="640080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3566160" y="26151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付款成功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46520" y="3209544"/>
            <a:ext cx="640080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6217920" y="26151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取消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98280" y="3209544"/>
            <a:ext cx="640080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8869680" y="26151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到期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828800" y="361188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付費續扣失敗會寄扣款失敗信；超過到期日 7 天寬限期仍未續扣 → 已結束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30352" y="4096512"/>
            <a:ext cx="3328416" cy="2052043"/>
          </a:xfrm>
          <a:prstGeom prst="roundRect">
            <a:avLst>
              <a:gd name="adj" fmla="val 5347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6" name="Image 0" descr="東京航線卡片：免費 · 有效至 2026/10/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60520"/>
            <a:ext cx="3200400" cy="1924027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548640" y="6144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免費 · 有效中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279392" y="4096512"/>
            <a:ext cx="3328416" cy="1805859"/>
          </a:xfrm>
          <a:prstGeom prst="roundRect">
            <a:avLst>
              <a:gd name="adj" fmla="val 6076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9" name="Image 1" descr="東京航線卡片：已結束，可免費重新訂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4160520"/>
            <a:ext cx="3200400" cy="1677843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4297680" y="5907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已結束（免費）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8028432" y="4096512"/>
            <a:ext cx="3648456" cy="1922415"/>
          </a:xfrm>
          <a:prstGeom prst="roundRect">
            <a:avLst>
              <a:gd name="adj" fmla="val 5708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2" name="Image 2" descr="東京航線卡片：已取消 · 有效至 2026/10/2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160520"/>
            <a:ext cx="3520440" cy="1794399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8046720" y="6035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已取消 · 有效至 2026/10/21（付費）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2 ・ 使用者功能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你會收到哪些信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1206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  <a:gridCol w="1554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時機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5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免費模式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5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付費模式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5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訂閱成功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✅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✅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價格達標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✅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✅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主動取消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✅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✅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每月續扣成功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—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✅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扣款失敗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—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✅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到期結束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✅ 附重新訂閱連結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✅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029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另有帳號信：註冊確認信、重設密碼信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108192" y="1536192"/>
            <a:ext cx="5568696" cy="1807012"/>
          </a:xfrm>
          <a:prstGeom prst="roundRect">
            <a:avLst>
              <a:gd name="adj" fmla="val 6072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免費訂閱成功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600200"/>
            <a:ext cx="5440680" cy="16789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26480" y="33467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免費訂閱成功信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108192" y="3776472"/>
            <a:ext cx="5568696" cy="1821899"/>
          </a:xfrm>
          <a:prstGeom prst="roundRect">
            <a:avLst>
              <a:gd name="adj" fmla="val 6023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付費訂閱成功信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840480"/>
            <a:ext cx="5440680" cy="169388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126480" y="55961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付費訂閱成功信（每月扣款 NT$300，可隨時取消）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3 ・ 使用者操作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操作流程總覽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08760" y="2606040"/>
            <a:ext cx="9144000" cy="0"/>
          </a:xfrm>
          <a:prstGeom prst="line">
            <a:avLst/>
          </a:prstGeom>
          <a:noFill/>
          <a:ln w="25400">
            <a:solidFill>
              <a:srgbClr val="2262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94560"/>
            <a:ext cx="822960" cy="82296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註冊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只要 email，從信中連結設定密碼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194560"/>
            <a:ext cx="822960" cy="82296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登入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進入 Dashboard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2194560"/>
            <a:ext cx="822960" cy="82296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開始追蹤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免費：立即生效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付費：到綠界付款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0" y="2194560"/>
            <a:ext cx="822960" cy="82296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收通知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價格達標就寄 email 給你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241280" y="2194560"/>
            <a:ext cx="822960" cy="82296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2412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管理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64692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調整目標價、取消、重新訂閱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55848" y="5166360"/>
            <a:ext cx="5486400" cy="731520"/>
          </a:xfrm>
          <a:prstGeom prst="roundRect">
            <a:avLst>
              <a:gd name="adj" fmla="val 15000"/>
            </a:avLst>
          </a:prstGeom>
          <a:solidFill>
            <a:srgbClr val="0E4A50"/>
          </a:solidFill>
          <a:ln w="19050">
            <a:solidFill>
              <a:srgbClr val="E535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355848" y="5166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從這裡開始：</a:t>
            </a:r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flights.roberthut.com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註冊與設定密碼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4632" y="1581912"/>
            <a:ext cx="3511296" cy="2242566"/>
          </a:xfrm>
          <a:prstGeom prst="roundRect">
            <a:avLst>
              <a:gd name="adj" fmla="val 4893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註冊頁，只需輸入 Em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3383280" cy="21145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43400" y="1581912"/>
            <a:ext cx="3511296" cy="2242566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註冊確認信，含「繼續 / Continue」按鈕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284932"/>
            <a:ext cx="3383280" cy="8365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193024" y="1581912"/>
            <a:ext cx="3511296" cy="2242566"/>
          </a:xfrm>
          <a:prstGeom prst="roundRect">
            <a:avLst>
              <a:gd name="adj" fmla="val 4893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2" descr="設定密碼頁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1645920"/>
            <a:ext cx="3383280" cy="211455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41648" y="2703195"/>
            <a:ext cx="246888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tailEnd type="triangle"/>
          </a:ln>
        </p:spPr>
      </p:sp>
      <p:sp>
        <p:nvSpPr>
          <p:cNvPr id="11" name="Shape 6"/>
          <p:cNvSpPr/>
          <p:nvPr/>
        </p:nvSpPr>
        <p:spPr>
          <a:xfrm>
            <a:off x="7900416" y="2703195"/>
            <a:ext cx="246888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tailEnd type="triangle"/>
          </a:ln>
        </p:spPr>
      </p:sp>
      <p:sp>
        <p:nvSpPr>
          <p:cNvPr id="12" name="Shape 7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051560" y="3931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打開網站 → 右上角「Sign in / 登入」→「Create one」，只填 Email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407408" y="3931920"/>
            <a:ext cx="384048" cy="384048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40740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910328" y="3931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到信箱收信，點「繼續 / Continue」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257032" y="3931920"/>
            <a:ext cx="384048" cy="384048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57032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759952" y="3931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設定密碼（至少 6 碼）即完成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498348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2960" y="5120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沒收到信？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請檢查垃圾郵件匣。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共用帳號系統：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email 若已在同一帳號系統的其他服務註冊過，會改寄重設密碼信；設定的新密碼也會成為那些服務的密碼（頁面上有提示）。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登入、忘記密碼、登出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581912"/>
            <a:ext cx="5431536" cy="3442716"/>
          </a:xfrm>
          <a:prstGeom prst="roundRect">
            <a:avLst>
              <a:gd name="adj" fmla="val 3187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登入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5303520" cy="33147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45352" y="1581912"/>
            <a:ext cx="5431536" cy="3442716"/>
          </a:xfrm>
          <a:prstGeom prst="roundRect">
            <a:avLst>
              <a:gd name="adj" fmla="val 3187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忘記密碼頁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303520" cy="33147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1206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輸入 Email、Password，按「Sign in / 登入」，自動進入 Dashboard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263640" y="51206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點「Forgot password? 忘記密碼？」→ 輸入 email →「Send reset link」→ 從信中連結設定新密碼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登出：Dashboard 右上角「Sign out / 登出」　・　未登入直接開 Dashboard 會被帶回登入頁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3a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免費模式：開始追蹤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733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輸入目標價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756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在「來回目標價 TWD」輸入你的預算，例如 10000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620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按「開始免費追蹤（一個月）」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6440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立即生效，不用付款，並收到訂閱成功信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0507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看到「免費 · 有效至 …」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4531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卡片標籤顯示服務到期日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0E4A50"/>
          </a:solidFill>
          <a:ln w="19050">
            <a:solidFill>
              <a:srgbClr val="E535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4406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小技巧：參考卡片下方「最後查詢（來回）」的價格，設一個合理的目標。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10912" y="1627632"/>
            <a:ext cx="3968496" cy="1932360"/>
          </a:xfrm>
          <a:prstGeom prst="roundRect">
            <a:avLst>
              <a:gd name="adj" fmla="val 5678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0" descr="東京航線卡片：已輸入目標價 10000，尚未訂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691640"/>
            <a:ext cx="3840480" cy="180434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07492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▼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10912" y="3959352"/>
            <a:ext cx="3968496" cy="2436849"/>
          </a:xfrm>
          <a:prstGeom prst="roundRect">
            <a:avLst>
              <a:gd name="adj" fmla="val 4503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1" descr="東京航線卡片：免費 · 有效至 2026/10/2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4023360"/>
            <a:ext cx="3840480" cy="2308833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9491472" y="1627632"/>
            <a:ext cx="2139696" cy="4481498"/>
          </a:xfrm>
          <a:prstGeom prst="roundRect">
            <a:avLst>
              <a:gd name="adj" fmla="val 5128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2" descr="手機版 Dashbo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691640"/>
            <a:ext cx="2011680" cy="435348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509760" y="6144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手機也能用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3b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付費模式：綠界付款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276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按「開始追蹤」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299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跳轉到綠界收銀台：NT$300，每 1 個月扣款 1 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457200" cy="45720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517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付款完成自動導回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540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Dashboard 顯示「付款完成，訂閱正在生效中…」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94176"/>
            <a:ext cx="457200" cy="45720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758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看到「已訂閱（有效）」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0782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並收到訂閱成功信；之後每月自動續扣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4572000" cy="1371600"/>
          </a:xfrm>
          <a:prstGeom prst="roundRect">
            <a:avLst>
              <a:gd name="adj" fmla="val 8000"/>
            </a:avLst>
          </a:prstGeom>
          <a:solidFill>
            <a:srgbClr val="0E4A50"/>
          </a:solidFill>
          <a:ln w="19050">
            <a:solidFill>
              <a:srgbClr val="E535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956048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付款失敗或中途離開：卡片顯示「未完成付款」，按「完成付款」重試。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目前是綠界測試特店，不會真的扣款。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13832" y="1536192"/>
            <a:ext cx="6163056" cy="2880841"/>
          </a:xfrm>
          <a:prstGeom prst="roundRect">
            <a:avLst>
              <a:gd name="adj" fmla="val 3809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0" descr="綠界收銀台：定期定額 NT$300，每 1 個月扣款 1 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600200"/>
            <a:ext cx="6035040" cy="2752825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513832" y="4507992"/>
            <a:ext cx="4473245" cy="1804179"/>
          </a:xfrm>
          <a:prstGeom prst="roundRect">
            <a:avLst>
              <a:gd name="adj" fmla="val 6082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1" descr="付款完成提示與東京航線卡片：已訂閱（有效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572000"/>
            <a:ext cx="4345229" cy="16761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管理訂閱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754880" cy="1097280"/>
          </a:xfrm>
          <a:prstGeom prst="roundRect">
            <a:avLst>
              <a:gd name="adj" fmla="val 1000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調整目標價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改數字後按「更新目標價」，立即生效（付費模式不用重新付款）。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754880" cy="1417320"/>
          </a:xfrm>
          <a:prstGeom prst="roundRect">
            <a:avLst>
              <a:gd name="adj" fmla="val 7742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017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取消訂閱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832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免費：「取消後立即停止通知。」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付費：「已付款的期間內仍會收到通知。」→「確定取消」或「保留」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4754880" cy="1097280"/>
          </a:xfrm>
          <a:prstGeom prst="roundRect">
            <a:avLst>
              <a:gd name="adj" fmla="val 1000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重新訂閱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983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已結束後按「免費重新訂閱」／「重新訂閱」。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05272" y="1536192"/>
            <a:ext cx="3008376" cy="2064163"/>
          </a:xfrm>
          <a:prstGeom prst="roundRect">
            <a:avLst>
              <a:gd name="adj" fmla="val 5316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4" name="Image 0" descr="東京航線卡片：免費訂閱取消確認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00200"/>
            <a:ext cx="2880360" cy="193614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623560" y="3627787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免費：取消確認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68512" y="1536192"/>
            <a:ext cx="3008376" cy="2036604"/>
          </a:xfrm>
          <a:prstGeom prst="roundRect">
            <a:avLst>
              <a:gd name="adj" fmla="val 5388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1" descr="東京航線卡片：付費訂閱取消確認，已付款期間內仍會收到通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600200"/>
            <a:ext cx="2880360" cy="190858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686800" y="36002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付費：取消確認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159752" y="4005072"/>
            <a:ext cx="3008376" cy="1638075"/>
          </a:xfrm>
          <a:prstGeom prst="roundRect">
            <a:avLst>
              <a:gd name="adj" fmla="val 6699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0" name="Image 2" descr="東京航線卡片：已結束，可免費重新訂閱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4069080"/>
            <a:ext cx="2880360" cy="151005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178040" y="5670579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已結束 → 免費重新訂閱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3 ・ 使用者操作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Demo：使用者端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0E4A50"/>
          </a:solidFill>
          <a:ln w="19050">
            <a:solidFill>
              <a:srgbClr val="E535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登入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578608" y="2468880"/>
            <a:ext cx="219456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34640" y="192024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0E4A50"/>
          </a:solidFill>
          <a:ln w="19050">
            <a:solidFill>
              <a:srgbClr val="E535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834640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開始免費追蹤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864608" y="2468880"/>
            <a:ext cx="219456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20640" y="192024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0E4A50"/>
          </a:solidFill>
          <a:ln w="19050">
            <a:solidFill>
              <a:srgbClr val="E535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120640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收到訂閱成功信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50608" y="2468880"/>
            <a:ext cx="219456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06640" y="192024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0E4A50"/>
          </a:solidFill>
          <a:ln w="19050">
            <a:solidFill>
              <a:srgbClr val="E535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06640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調整目標價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436608" y="2468880"/>
            <a:ext cx="219456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92640" y="192024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0E4A50"/>
          </a:solidFill>
          <a:ln w="19050">
            <a:solidFill>
              <a:srgbClr val="E535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92640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取消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730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Demo 前準備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1605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確認網站處於免費模式（按鈕文字是「開始免費追蹤（一個月）」）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準備一個已設定好密碼的帳號，避免現場等註冊信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通知信無法保證現場觸發，備好事先收到的通知信截圖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Demo 完記得取消 Demo 帳號的訂閱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4 ・ 管理員後台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誰看得到後台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536192"/>
            <a:ext cx="6528816" cy="4128516"/>
          </a:xfrm>
          <a:prstGeom prst="roundRect">
            <a:avLst>
              <a:gd name="adj" fmla="val 2658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管理員的 Dashboard，右上角有 Admin 按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06640" y="160020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只有管理員帳號的 Dashboard 右上角會出現「Admin」按鈕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一般帳號直接輸入 /admin 會被導回 Dashboard；後台資料另由資料庫權限把關，就算畫面被繞過也讀不到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後台六個分頁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06640" y="3886200"/>
            <a:ext cx="2057400" cy="457200"/>
          </a:xfrm>
          <a:prstGeom prst="roundRect">
            <a:avLst>
              <a:gd name="adj" fmla="val 2400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06640" y="3886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總覽 Overview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555480" y="3886200"/>
            <a:ext cx="2057400" cy="457200"/>
          </a:xfrm>
          <a:prstGeom prst="roundRect">
            <a:avLst>
              <a:gd name="adj" fmla="val 2400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555480" y="3886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航線 Routes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06640" y="4453128"/>
            <a:ext cx="2057400" cy="457200"/>
          </a:xfrm>
          <a:prstGeom prst="roundRect">
            <a:avLst>
              <a:gd name="adj" fmla="val 2400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06640" y="44531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註冊用戶 Users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555480" y="4453128"/>
            <a:ext cx="2057400" cy="457200"/>
          </a:xfrm>
          <a:prstGeom prst="roundRect">
            <a:avLst>
              <a:gd name="adj" fmla="val 2400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555480" y="44531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所有訂閱 Subscriptions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406640" y="5020056"/>
            <a:ext cx="2057400" cy="457200"/>
          </a:xfrm>
          <a:prstGeom prst="roundRect">
            <a:avLst>
              <a:gd name="adj" fmla="val 2400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06640" y="502005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通知紀錄 Notifications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555480" y="5020056"/>
            <a:ext cx="2057400" cy="457200"/>
          </a:xfrm>
          <a:prstGeom prst="roundRect">
            <a:avLst>
              <a:gd name="adj" fmla="val 2400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555480" y="502005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查價紀錄 Price checks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4 ・ 管理員後台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總覽與設定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444752"/>
            <a:ext cx="5522976" cy="3585400"/>
          </a:xfrm>
          <a:prstGeom prst="roundRect">
            <a:avLst>
              <a:gd name="adj" fmla="val 3060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Admin 總覽：查價狀態橫幅與統計卡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5394960" cy="34573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53912" y="1444752"/>
            <a:ext cx="5522976" cy="3585400"/>
          </a:xfrm>
          <a:prstGeom prst="roundRect">
            <a:avLst>
              <a:gd name="adj" fmla="val 3060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Admin 設定：三個開關與航線最新價格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08760"/>
            <a:ext cx="5394960" cy="34573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1023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查價狀態橫幅＋統計卡片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172200" y="51023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三個設定開關＋航線最新價格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468112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統計：有效訂閱、預估月營收 MRR、總訂閱數、付款失敗，以及各狀態筆數；查價有異常、超過 65 分鐘沒查價或卡在執行中時顯示橫幅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開關：使用綠界付款（付費／免費模式）・v1 價格對照（通知信附另一來源的價格）・測試：強制到期（僅供測試）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4 ・ 管理員後台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航線管理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444752"/>
            <a:ext cx="5522976" cy="3585400"/>
          </a:xfrm>
          <a:prstGeom prst="roundRect">
            <a:avLst>
              <a:gd name="adj" fmla="val 3060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新增航線：台北到福岡的辨識結果、來回最低價與將顯示的名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5394960" cy="34573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53912" y="1444752"/>
            <a:ext cx="5522976" cy="3585400"/>
          </a:xfrm>
          <a:prstGeom prst="roundRect">
            <a:avLst>
              <a:gd name="adj" fmla="val 3060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所有航線列表與啟用開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08760"/>
            <a:ext cx="5394960" cy="34573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1023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新增：台北 → 福岡，即時查到 NT$7,928 才能新增；名稱取自辨識結果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172200" y="51023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所有航線：只有啟用開關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468112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輸入中文城市名或三碼代碼 →「查詢價格」→ 確認辨識結果 →「確認新增」，使用者 Dashboard 立即看到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名稱取自辨識結果，與代碼一樣建立後不可修改；停用：不再開放新訂閱，只對仍持有訂閱的人顯示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4 ・ 管理員後台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所有訂閱與註冊用戶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444752"/>
            <a:ext cx="5522976" cy="3585400"/>
          </a:xfrm>
          <a:prstGeom prst="roundRect">
            <a:avLst>
              <a:gd name="adj" fmla="val 3060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所有訂閱列表，含手動發送與強制到期按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5394960" cy="34573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53912" y="1444752"/>
            <a:ext cx="5522976" cy="3585400"/>
          </a:xfrm>
          <a:prstGeom prst="roundRect">
            <a:avLst>
              <a:gd name="adj" fmla="val 3060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註冊用戶列表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08760"/>
            <a:ext cx="5394960" cy="34573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1023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所有訂閱（email 已遮蔽）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172200" y="51023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註冊用戶（email 已遮蔽）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468112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所有訂閱：搜尋 email 或航線、依狀態篩選；看付款方式、到期日、扣款失敗、續扣次數；「手動發送」立即寄出達標通知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註冊用戶：註冊與驗證時間、最後登入、訂閱數與付費中數；管理員帳號標示 Admin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4 ・ 管理員後台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通知紀錄與查價紀錄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444752"/>
            <a:ext cx="5522976" cy="3585400"/>
          </a:xfrm>
          <a:prstGeom prst="roundRect">
            <a:avLst>
              <a:gd name="adj" fmla="val 3060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通知紀錄，區分自動與手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5394960" cy="34573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53912" y="1444752"/>
            <a:ext cx="5522976" cy="3585400"/>
          </a:xfrm>
          <a:prstGeom prst="roundRect">
            <a:avLst>
              <a:gd name="adj" fmla="val 3060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查價紀錄，只看異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08760"/>
            <a:ext cx="5394960" cy="34573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1023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通知紀錄：自動 Auto／手動 Manual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172200" y="51023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查價紀錄：只看異常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468112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通知紀錄：每封降價通知的收件人、航線、價格、時間與觸發方式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查價紀錄：每 30 分鐘一筆，保留 90 天；狀態、耗時、API 次數、比對數與異常（429 限流、查無票價）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5 ・ 系統運作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系統架構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0E4A50"/>
          </a:solidFill>
          <a:ln w="1905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9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flights.roberthut.com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TanStack Start（React 19）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Tailwind ＋ shadcn/ui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Vercel 部署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7373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0E4A50"/>
          </a:solidFill>
          <a:ln w="19050">
            <a:solidFill>
              <a:srgbClr val="E535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09160" y="1920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 Supabase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3591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沒有自己的伺服器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8346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Postgres（schema flight）＋ RLS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Edge Functions（訂閱、回呼、查價、寄信）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pg_cron 每 30 分鐘排程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1737360"/>
            <a:ext cx="3108960" cy="3566160"/>
          </a:xfrm>
          <a:prstGeom prst="roundRect">
            <a:avLst>
              <a:gd name="adj" fmla="val 3529"/>
            </a:avLst>
          </a:prstGeom>
          <a:solidFill>
            <a:srgbClr val="0E4A50"/>
          </a:solidFill>
          <a:ln w="1905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77824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外部服務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2359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283464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綠界 ECPay：付款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Resend：寄信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Travelpayouts：票價來源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0" y="3520440"/>
            <a:ext cx="594360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94760" y="3520440"/>
            <a:ext cx="594360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headEnd type="triangle"/>
          </a:ln>
        </p:spPr>
      </p:sp>
      <p:sp>
        <p:nvSpPr>
          <p:cNvPr id="18" name="Shape 16"/>
          <p:cNvSpPr/>
          <p:nvPr/>
        </p:nvSpPr>
        <p:spPr>
          <a:xfrm>
            <a:off x="7863840" y="3520440"/>
            <a:ext cx="594360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863840" y="3520440"/>
            <a:ext cx="594360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head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瀏覽器讀資料用使用者自己的登入身分；寫入一律經過 Edge Functions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5 ・ 系統運作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降價通知的資料流程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88720" y="2331720"/>
            <a:ext cx="9509760" cy="0"/>
          </a:xfrm>
          <a:prstGeom prst="line">
            <a:avLst/>
          </a:prstGeom>
          <a:noFill/>
          <a:ln w="25400">
            <a:solidFill>
              <a:srgbClr val="2262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731520" cy="73152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排程觸發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3337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pg_cron 每 30 分鐘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24912" y="1965960"/>
            <a:ext cx="731520" cy="73152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24912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176272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處理到期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21992" y="3337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取消過期、逾寬限期、免費到期，並寄信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26864" y="1965960"/>
            <a:ext cx="731520" cy="73152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26864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078224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查票價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123944" y="3337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每條航線的來回最低價，更新「最後查詢」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28816" y="1965960"/>
            <a:ext cx="731520" cy="73152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28816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980176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比對目標價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025896" y="3337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只比對有效訂閱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30768" y="1965960"/>
            <a:ext cx="731520" cy="73152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30768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882128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去重寄信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927848" y="3337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24 小時內同價不重寄，Resend 寄出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332720" y="1965960"/>
            <a:ext cx="731520" cy="73152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33272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寫查價紀錄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829800" y="3337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給管理員看狀態與異常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0E4A50"/>
          </a:solidFill>
          <a:ln w="19050">
            <a:solidFill>
              <a:srgbClr val="E5352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9834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有效訂閱＝付費已訂閱、付費已取消但還在已付款期間內，或免費有效期內。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實測：付款完成後約 2 分鐘，下一輪排程就寄出了達標通知。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5 ・ 系統運作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付款與資料安全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58968" cy="2011680"/>
          </a:xfrm>
          <a:prstGeom prst="roundRect">
            <a:avLst>
              <a:gd name="adj" fmla="val 5455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只認驗證過的付款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只有通過檢核碼驗證的綠界回呼，才能把訂閱改成「有效」；測試模擬付款不會啟用。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0488" y="1645920"/>
            <a:ext cx="5458968" cy="2011680"/>
          </a:xfrm>
          <a:prstGeom prst="roundRect">
            <a:avLst>
              <a:gd name="adj" fmla="val 5455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64808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瀏覽器不能寫訂閱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64808" y="23774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使用者沒有寫入訂閱的權限，無法自己改成已付費；所有寫入都經過伺服器函式。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458968" cy="2011680"/>
          </a:xfrm>
          <a:prstGeom prst="roundRect">
            <a:avLst>
              <a:gd name="adj" fmla="val 5455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114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先停扣款再取消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1772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取消時先通知綠界停止扣款，成功才改本地狀態，避免取消了卻還在扣錢。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0488" y="3886200"/>
            <a:ext cx="5458968" cy="2011680"/>
          </a:xfrm>
          <a:prstGeom prst="roundRect">
            <a:avLst>
              <a:gd name="adj" fmla="val 5455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64808" y="4114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共用帳號系統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461772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登入頁只接受已註冊本服務的帳號；資料一律以使用者本人為範圍（RLS）。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6 ・ 品質與收尾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測試結果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114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測試用例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64992" y="1645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39312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111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通過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81344" y="1645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55664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部分驗證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97696" y="1645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72016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272016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失敗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4048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核心功能 92 項（前端與登入、抓價比對、寄信去重、綠界付費牆、資料庫與安全）：91 通過，含綠界排程真實續扣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免費模式開關 10 項全數通過；管理員後台 12 項：10 通過、2 部分驗證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測試中發現並修正 9 個缺陷，例如 email 含「+」付款後無法啟用、非管理員直接開網址會看到後台畫面（資料未外洩）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6 ・ 品質與收尾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未來規劃與 Q&amp;A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改用正式綠界特店，決定何時從免費模式切回付費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更多出發地與航線（歡迎來信提需求）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更嚴謹的跨服務存取控制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謝謝！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立即試用：https://flights.roberthut.com/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92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Robert ｜ robertkao5656@gmail.com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63840" y="146304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網站 QR code：https://flights.roberthut.com/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737360"/>
            <a:ext cx="2926080" cy="29260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863840" y="4892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39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手機掃描開啟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Price Notifier 機票降價通知 — 系統全功能介紹 v1.1</dc:title>
  <dc:subject>PptxGenJS Presentation</dc:subject>
  <dc:creator>Robert Kao</dc:creator>
  <cp:lastModifiedBy>Robert Kao</cp:lastModifiedBy>
  <cp:revision>1</cp:revision>
  <dcterms:created xsi:type="dcterms:W3CDTF">2026-09-27T04:31:40Z</dcterms:created>
  <dcterms:modified xsi:type="dcterms:W3CDTF">2026-09-27T04:31:40Z</dcterms:modified>
</cp:coreProperties>
</file>