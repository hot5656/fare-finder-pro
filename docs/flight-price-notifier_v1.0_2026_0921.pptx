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開場：用「你上次買機票是不是查了很多天？」帶入。產品名稱、副標為首頁原文。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用提問開場：你上次買機票是不是查了很多天？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重點：不用一直盯著網站。價格到你的預算才通知。每條航線各自訂閱、各自設定目標價。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首頁三張 feature card 的內容。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價格為 2026/09/21 21:30 Dashboard 上的「最後查詢」實際數字。倫敦是後來新增的航線。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2026/09/21 21:30 實際收到的通知信。強調「不會一直轟炸你」是設計出來的：同價 24 小時內不重寄；降 20% 或 NT$2,000 以上才再通知。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重點：取消後，已付款的期間內仍會收到通知；已結束後可以重新訂閱。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操作流程總覽，接下來逐步示範。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登入頁標題「Welcome back．登入」；切換到註冊模式標題變成「Create account．註冊」。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欄位預設提示值是 10000。輸入空白、0 或負數會顯示錯誤提示。「最後查詢」時間會隨排程更新（實測 19:30 → 20:00，每 30 分鐘一次）。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行動版寬度 390px 的 Dashboard 截圖。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收銀台截圖已裁掉卡片欄位與訂單編號。已知落差：付款後綠界導回的網址（SITE_URL）尚未設定，預設會回 localhost:8080，Demo 現場需手動改回正式站網址。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2026/09/21 21:28 付款完成，同一時間收到訂閱成功信。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左圖只展開確認畫面；右圖是實際按下「確定取消」後的狀態。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取消時系統會先通知綠界停止扣款，成功後才更新狀態，再寄出這封取消信。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前準備：1) 事先備好一個已驗證的帳號，避免現場等確認信；2) 準備綠界測試卡；3) 付款後綠界會導回 SITE_URL（目前預設 localhost:8080），需手動改回正式站網址；4) 通知信要等排程（整點與半點）才會寄，請準備本簡報第 6 張的實際截圖當備案；5) Demo 完記得取消測試訂閱。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付款後 2 分鐘內就收到降價通知：21:28 付款與訂閱成功信，21:30 排程跑完寄出達標信。「有付費資格」= 已訂閱，或已取消但還在已付款期間內。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數字來自 docs/test-report.md（2026-09-21）：91 個用例，88 通過、3 部分驗證、0 失敗。簡報前請確認是否有更新。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上線前待辦：正式綠界特店與 SITE_URL、註冊確認信改善（曾進垃圾郵件）。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備用投影片，Q&amp;A 時使用。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0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 Price Notifier</a:t>
            </a:r>
            <a:endParaRPr lang="zh-TW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機票降價通知</a:t>
            </a:r>
            <a:endParaRPr lang="zh-TW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0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設定航線與目標價，機票降價就通知你</a:t>
            </a:r>
            <a:endParaRPr lang="zh-TW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Set a route and a target price — we email you when the fare drops.</a:t>
            </a:r>
            <a:endParaRPr lang="zh-TW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產品功能與操作介紹</a:t>
            </a:r>
            <a:endParaRPr lang="zh-TW" sz="1500" dirty="0"/>
          </a:p>
        </p:txBody>
      </p:sp>
      <p:sp>
        <p:nvSpPr>
          <p:cNvPr id="7" name="Shape 5"/>
          <p:cNvSpPr/>
          <p:nvPr/>
        </p:nvSpPr>
        <p:spPr>
          <a:xfrm>
            <a:off x="6519672" y="2130552"/>
            <a:ext cx="5157216" cy="1910294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首頁：Flight Price Notifier，設定航線與目標價，機票降價就通知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94560"/>
            <a:ext cx="5029200" cy="178227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470916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47091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東京</a:t>
            </a:r>
            <a:endParaRPr lang="zh-TW" sz="1300" dirty="0"/>
          </a:p>
        </p:txBody>
      </p:sp>
      <p:sp>
        <p:nvSpPr>
          <p:cNvPr id="11" name="Shape 8"/>
          <p:cNvSpPr/>
          <p:nvPr/>
        </p:nvSpPr>
        <p:spPr>
          <a:xfrm>
            <a:off x="8311896" y="470916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11896" y="47091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首爾</a:t>
            </a:r>
            <a:endParaRPr lang="zh-TW" sz="1300" dirty="0"/>
          </a:p>
        </p:txBody>
      </p:sp>
      <p:sp>
        <p:nvSpPr>
          <p:cNvPr id="13" name="Shape 10"/>
          <p:cNvSpPr/>
          <p:nvPr/>
        </p:nvSpPr>
        <p:spPr>
          <a:xfrm>
            <a:off x="10040112" y="470916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40112" y="470916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倫敦</a:t>
            </a:r>
            <a:endParaRPr lang="zh-TW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買機票，你是不是也這樣？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65960"/>
            <a:ext cx="868680" cy="8686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18313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天天刷價格</a:t>
            </a:r>
            <a:endParaRPr lang="zh-TW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機票價格每天都在變，要一直打開網站手動查。</a:t>
            </a:r>
            <a:endParaRPr lang="zh-TW" sz="1600" dirty="0"/>
          </a:p>
        </p:txBody>
      </p:sp>
      <p:sp>
        <p:nvSpPr>
          <p:cNvPr id="8" name="Shape 5"/>
          <p:cNvSpPr/>
          <p:nvPr/>
        </p:nvSpPr>
        <p:spPr>
          <a:xfrm>
            <a:off x="4334256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0016" y="1965960"/>
            <a:ext cx="868680" cy="8686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218313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0016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日期其實很彈性</a:t>
            </a:r>
            <a:endParaRPr lang="zh-TW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00016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很多人不在意哪天飛，只在意預算。</a:t>
            </a:r>
            <a:endParaRPr lang="zh-TW" sz="1600" dirty="0"/>
          </a:p>
        </p:txBody>
      </p:sp>
      <p:sp>
        <p:nvSpPr>
          <p:cNvPr id="13" name="Shape 9"/>
          <p:cNvSpPr/>
          <p:nvPr/>
        </p:nvSpPr>
        <p:spPr>
          <a:xfrm>
            <a:off x="8119872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85632" y="1965960"/>
            <a:ext cx="868680" cy="8686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802" y="218313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85632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一不注意就多花</a:t>
            </a:r>
            <a:endParaRPr lang="zh-TW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85632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錯過低價，一張機票可能多花好幾千。</a:t>
            </a:r>
            <a:endParaRPr lang="zh-TW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1B6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如果有人幫你盯著價格，價格到了再通知你就好。</a:t>
            </a:r>
            <a:endParaRPr lang="zh-TW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設定航線與目標價，</a:t>
            </a:r>
            <a:endParaRPr lang="zh-TW" sz="3600" dirty="0"/>
          </a:p>
          <a:p>
            <a:pPr indent="0" marL="0">
              <a:buNone/>
            </a:pPr>
            <a:r>
              <a:rPr lang="zh-TW" altLang="en-US" sz="3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機票降價就通知你</a:t>
            </a:r>
            <a:endParaRPr lang="zh-TW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目標客群：預算導向、出發日彈性的旅客</a:t>
            </a:r>
            <a:endParaRPr lang="zh-TW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月訂閱制，隨時可以取消，沒有綁約。</a:t>
            </a:r>
            <a:endParaRPr lang="zh-TW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37160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0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條航線</a:t>
            </a:r>
            <a:endParaRPr lang="zh-TW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東京・首爾・倫敦（台北出發）</a:t>
            </a:r>
            <a:endParaRPr lang="zh-TW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2944368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31272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30 分鐘</a:t>
            </a:r>
            <a:endParaRPr lang="zh-TW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系統自動查一次最低票價</a:t>
            </a:r>
            <a:endParaRPr lang="zh-TW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4517136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4700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NT$300／月</a:t>
            </a:r>
            <a:endParaRPr lang="zh-TW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5340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每條航線，信用卡定期定額</a:t>
            </a:r>
            <a:endParaRPr lang="zh-TW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三大核心功能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盯緊熱門航線</a:t>
            </a:r>
            <a:endParaRPr lang="zh-TW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Always-on route watching</a:t>
            </a:r>
            <a:endParaRPr lang="zh-TW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持續監控台北出發的熱門航線（東京、首爾、倫敦），自動抓最低票價。</a:t>
            </a:r>
            <a:endParaRPr lang="zh-TW" sz="160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828800"/>
            <a:ext cx="914400" cy="9144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0016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達標自動通知</a:t>
            </a:r>
            <a:endParaRPr lang="zh-TW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700016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Target-price email alerts</a:t>
            </a:r>
            <a:endParaRPr lang="zh-TW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00016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低於你設定的目標價，就寄 email 提醒你，附上立即訂購連結。</a:t>
            </a:r>
            <a:endParaRPr lang="zh-TW" sz="1600" dirty="0"/>
          </a:p>
        </p:txBody>
      </p:sp>
      <p:sp>
        <p:nvSpPr>
          <p:cNvPr id="15" name="Shape 11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1828800"/>
            <a:ext cx="914400" cy="9144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057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85632" y="3017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隨時取消</a:t>
            </a:r>
            <a:endParaRPr lang="zh-TW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85632" y="3566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Cancel anytime</a:t>
            </a:r>
            <a:endParaRPr lang="zh-TW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月訂閱制，不想用隨時停，沒有綁約。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目前支援的航線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916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東京</a:t>
            </a:r>
            <a:endParaRPr lang="zh-TW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最近查到的最低價</a:t>
            </a:r>
            <a:endParaRPr lang="zh-TW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03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NT$6,610</a:t>
            </a:r>
            <a:endParaRPr lang="zh-TW" sz="360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920240"/>
            <a:ext cx="685800" cy="68580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66" y="20916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0016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首爾</a:t>
            </a:r>
            <a:endParaRPr lang="zh-TW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00016" y="3383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最近查到的最低價</a:t>
            </a:r>
            <a:endParaRPr lang="zh-TW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00016" y="3703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NT$5,562</a:t>
            </a:r>
            <a:endParaRPr lang="zh-TW" sz="3600" dirty="0"/>
          </a:p>
        </p:txBody>
      </p:sp>
      <p:sp>
        <p:nvSpPr>
          <p:cNvPr id="15" name="Shape 11"/>
          <p:cNvSpPr/>
          <p:nvPr/>
        </p:nvSpPr>
        <p:spPr>
          <a:xfrm>
            <a:off x="8119872" y="16002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1920240"/>
            <a:ext cx="685800" cy="68580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082" y="20916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85632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→ 倫敦</a:t>
            </a:r>
            <a:endParaRPr lang="zh-TW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85632" y="3383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最近查到的最低價</a:t>
            </a:r>
            <a:endParaRPr lang="zh-TW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3703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NT$20,345</a:t>
            </a:r>
            <a:endParaRPr lang="zh-TW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029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以上為 2026/09/21 21:30 的查價示例，價格會隨時變動。</a:t>
            </a:r>
            <a:endParaRPr lang="zh-TW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486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每條航線各自設定目標價、各自訂閱</a:t>
            </a:r>
            <a:endParaRPr lang="zh-TW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票價以新台幣為主，通知信另附美元參考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降價通知信長這樣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36192"/>
            <a:ext cx="6163056" cy="2768346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降價通知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00200"/>
            <a:ext cx="6035040" cy="26403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652010"/>
            <a:ext cx="6163056" cy="1383030"/>
          </a:xfrm>
          <a:prstGeom prst="roundRect">
            <a:avLst>
              <a:gd name="adj" fmla="val 793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944618"/>
            <a:ext cx="640080" cy="64008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5104638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485317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不會一直轟炸你</a:t>
            </a:r>
            <a:endParaRPr lang="zh-TW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529209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同一個價格，24 小時內不重複寄；</a:t>
            </a:r>
            <a:endParaRPr lang="zh-TW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降價 20% 以上或 NT$2,000 以上，才會再通知。</a:t>
            </a:r>
            <a:endParaRPr lang="zh-TW" sz="1400" dirty="0"/>
          </a:p>
        </p:txBody>
      </p:sp>
      <p:sp>
        <p:nvSpPr>
          <p:cNvPr id="10" name="Shape 6"/>
          <p:cNvSpPr/>
          <p:nvPr/>
        </p:nvSpPr>
        <p:spPr>
          <a:xfrm>
            <a:off x="7269480" y="1691640"/>
            <a:ext cx="685800" cy="6858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30" y="186309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1673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目前最低價</a:t>
            </a:r>
            <a:endParaRPr lang="zh-TW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8183880" y="20756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NT$6,610，另附約當美元 US$208</a:t>
            </a:r>
            <a:endParaRPr lang="zh-TW" sz="1400" dirty="0"/>
          </a:p>
        </p:txBody>
      </p:sp>
      <p:sp>
        <p:nvSpPr>
          <p:cNvPr id="14" name="Shape 9"/>
          <p:cNvSpPr/>
          <p:nvPr/>
        </p:nvSpPr>
        <p:spPr>
          <a:xfrm>
            <a:off x="7269480" y="3154680"/>
            <a:ext cx="685800" cy="6858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930" y="3326130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83880" y="3136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你的目標價</a:t>
            </a:r>
            <a:endParaRPr lang="zh-TW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183880" y="35387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一眼看出是否達標（NT$10,000）</a:t>
            </a:r>
            <a:endParaRPr lang="zh-TW" sz="1400" dirty="0"/>
          </a:p>
        </p:txBody>
      </p:sp>
      <p:sp>
        <p:nvSpPr>
          <p:cNvPr id="18" name="Shape 12"/>
          <p:cNvSpPr/>
          <p:nvPr/>
        </p:nvSpPr>
        <p:spPr>
          <a:xfrm>
            <a:off x="7269480" y="4617720"/>
            <a:ext cx="685800" cy="68580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930" y="4789170"/>
            <a:ext cx="342900" cy="3429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83880" y="4599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立即訂購</a:t>
            </a:r>
            <a:endParaRPr lang="zh-TW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8183880" y="50017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點按鈕直接去訂票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訂閱的四種狀態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194560" cy="1188720"/>
          </a:xfrm>
          <a:prstGeom prst="roundRect">
            <a:avLst>
              <a:gd name="adj" fmla="val 10769"/>
            </a:avLst>
          </a:prstGeom>
          <a:solidFill>
            <a:srgbClr val="DDE6E6"/>
          </a:solidFill>
          <a:ln w="12700">
            <a:solidFill>
              <a:srgbClr val="DD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未完成付款</a:t>
            </a:r>
            <a:endParaRPr lang="zh-TW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還沒付款，可按「完成付款」重試</a:t>
            </a:r>
            <a:endParaRPr lang="zh-TW" sz="1400" dirty="0"/>
          </a:p>
        </p:txBody>
      </p:sp>
      <p:sp>
        <p:nvSpPr>
          <p:cNvPr id="6" name="Shape 4"/>
          <p:cNvSpPr/>
          <p:nvPr/>
        </p:nvSpPr>
        <p:spPr>
          <a:xfrm>
            <a:off x="2816352" y="2423160"/>
            <a:ext cx="630936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651760" y="2057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</a:t>
            </a:r>
            <a:endParaRPr lang="zh-TW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194560" cy="1188720"/>
          </a:xfrm>
          <a:prstGeom prst="roundRect">
            <a:avLst>
              <a:gd name="adj" fmla="val 10769"/>
            </a:avLst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已訂閱（有效）</a:t>
            </a:r>
            <a:endParaRPr lang="zh-TW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收得到降價通知，每月自動續扣</a:t>
            </a:r>
            <a:endParaRPr lang="zh-TW" sz="1400" dirty="0"/>
          </a:p>
        </p:txBody>
      </p:sp>
      <p:sp>
        <p:nvSpPr>
          <p:cNvPr id="11" name="Shape 9"/>
          <p:cNvSpPr/>
          <p:nvPr/>
        </p:nvSpPr>
        <p:spPr>
          <a:xfrm>
            <a:off x="5788152" y="2423160"/>
            <a:ext cx="630936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623560" y="2057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</a:t>
            </a:r>
            <a:endParaRPr lang="zh-TW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2194560" cy="1188720"/>
          </a:xfrm>
          <a:prstGeom prst="roundRect">
            <a:avLst>
              <a:gd name="adj" fmla="val 10769"/>
            </a:avLst>
          </a:prstGeom>
          <a:solidFill>
            <a:srgbClr val="FFE1DF"/>
          </a:solidFill>
          <a:ln w="12700">
            <a:solidFill>
              <a:srgbClr val="FFE1D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9A1F1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已取消 · 有效至…</a:t>
            </a:r>
            <a:endParaRPr lang="zh-TW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不再扣款，但到期前仍收得到通知</a:t>
            </a:r>
            <a:endParaRPr lang="zh-TW" sz="1400" dirty="0"/>
          </a:p>
        </p:txBody>
      </p:sp>
      <p:sp>
        <p:nvSpPr>
          <p:cNvPr id="16" name="Shape 14"/>
          <p:cNvSpPr/>
          <p:nvPr/>
        </p:nvSpPr>
        <p:spPr>
          <a:xfrm>
            <a:off x="8759952" y="2423160"/>
            <a:ext cx="630936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95360" y="2057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</a:t>
            </a:r>
            <a:endParaRPr lang="zh-TW" sz="1100" dirty="0"/>
          </a:p>
        </p:txBody>
      </p:sp>
      <p:sp>
        <p:nvSpPr>
          <p:cNvPr id="18" name="Shape 16"/>
          <p:cNvSpPr/>
          <p:nvPr/>
        </p:nvSpPr>
        <p:spPr>
          <a:xfrm>
            <a:off x="9464040" y="1828800"/>
            <a:ext cx="2194560" cy="1188720"/>
          </a:xfrm>
          <a:prstGeom prst="roundRect">
            <a:avLst>
              <a:gd name="adj" fmla="val 10769"/>
            </a:avLst>
          </a:prstGeom>
          <a:solidFill>
            <a:srgbClr val="DDE6E6"/>
          </a:solidFill>
          <a:ln w="12700">
            <a:solidFill>
              <a:srgbClr val="DD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46404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</a:t>
            </a:r>
            <a:endParaRPr lang="zh-TW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可按「重新訂閱」再回來</a:t>
            </a:r>
            <a:endParaRPr lang="zh-TW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518922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783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每個狀態都有對應的 email</a:t>
            </a:r>
            <a:endParaRPr lang="zh-TW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78308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訂閱成功、續扣成功、扣款失敗、取消、到期，各寄一次。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步驟上手</a:t>
            </a:r>
            <a:endParaRPr lang="zh-TW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zh-TW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788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註冊／登入</a:t>
            </a:r>
            <a:endParaRPr lang="zh-TW" sz="1600" dirty="0"/>
          </a:p>
        </p:txBody>
      </p:sp>
      <p:sp>
        <p:nvSpPr>
          <p:cNvPr id="7" name="Shape 4"/>
          <p:cNvSpPr/>
          <p:nvPr/>
        </p:nvSpPr>
        <p:spPr>
          <a:xfrm>
            <a:off x="242316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zh-TW" sz="3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27889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選航線</a:t>
            </a:r>
            <a:endParaRPr lang="zh-TW" sz="1600" dirty="0"/>
          </a:p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設目標價</a:t>
            </a:r>
            <a:endParaRPr lang="zh-TW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2976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zh-TW" sz="3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27889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8912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到綠界付款</a:t>
            </a:r>
            <a:endParaRPr lang="zh-TW" sz="1600" dirty="0"/>
          </a:p>
        </p:txBody>
      </p:sp>
      <p:sp>
        <p:nvSpPr>
          <p:cNvPr id="15" name="Shape 10"/>
          <p:cNvSpPr/>
          <p:nvPr/>
        </p:nvSpPr>
        <p:spPr>
          <a:xfrm>
            <a:off x="617220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722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zh-TW" sz="3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78892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確認已訂閱</a:t>
            </a:r>
            <a:endParaRPr lang="zh-TW" sz="1600" dirty="0"/>
          </a:p>
        </p:txBody>
      </p:sp>
      <p:sp>
        <p:nvSpPr>
          <p:cNvPr id="19" name="Shape 13"/>
          <p:cNvSpPr/>
          <p:nvPr/>
        </p:nvSpPr>
        <p:spPr>
          <a:xfrm>
            <a:off x="804672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0467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zh-TW" sz="3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78892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3816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等降價通知</a:t>
            </a:r>
            <a:endParaRPr lang="zh-TW" sz="1600" dirty="0"/>
          </a:p>
        </p:txBody>
      </p:sp>
      <p:sp>
        <p:nvSpPr>
          <p:cNvPr id="23" name="Shape 16"/>
          <p:cNvSpPr/>
          <p:nvPr/>
        </p:nvSpPr>
        <p:spPr>
          <a:xfrm>
            <a:off x="9921240" y="1920240"/>
            <a:ext cx="1691640" cy="2834640"/>
          </a:xfrm>
          <a:prstGeom prst="roundRect">
            <a:avLst>
              <a:gd name="adj" fmla="val 6486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9212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3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zh-TW" sz="3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020" y="278892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12680" y="36118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調整或取消</a:t>
            </a:r>
            <a:endParaRPr lang="zh-TW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dirty="0">
                <a:solidFill>
                  <a:srgbClr val="A9C4C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設定一次，之後交給系統盯價。</a:t>
            </a:r>
            <a:endParaRPr lang="zh-TW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1　註冊與登入</a:t>
            </a:r>
            <a:endParaRPr lang="zh-TW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zh-TW" altLang="en-US" sz="18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打開網站，按右上角「Sign in / 登入」</a:t>
            </a:r>
            <a:endParaRPr lang="zh-TW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zh-TW" altLang="en-US" sz="18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沒有帳號？點「No account yet? Create one」註冊，收到確認信後再登入</a:t>
            </a:r>
            <a:endParaRPr lang="zh-TW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zh-TW" altLang="en-US" sz="18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登入成功，自動進入 Dashboard</a:t>
            </a:r>
            <a:endParaRPr lang="zh-TW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zh-TW" altLang="en-US" sz="18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沒登入就直接開 Dashboard，會被帶回登入頁</a:t>
            </a:r>
            <a:endParaRPr lang="zh-TW" sz="1800" dirty="0"/>
          </a:p>
        </p:txBody>
      </p:sp>
      <p:sp>
        <p:nvSpPr>
          <p:cNvPr id="4" name="Shape 2"/>
          <p:cNvSpPr/>
          <p:nvPr/>
        </p:nvSpPr>
        <p:spPr>
          <a:xfrm>
            <a:off x="5696712" y="1764792"/>
            <a:ext cx="2916936" cy="2856307"/>
          </a:xfrm>
          <a:prstGeom prst="roundRect">
            <a:avLst>
              <a:gd name="adj" fmla="val 2561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登入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28800"/>
            <a:ext cx="2788920" cy="27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59952" y="1764792"/>
            <a:ext cx="2916936" cy="2856307"/>
          </a:xfrm>
          <a:prstGeom prst="roundRect">
            <a:avLst>
              <a:gd name="adj" fmla="val 2561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註冊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828800"/>
            <a:ext cx="2788920" cy="27282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60720" y="4739971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</a:t>
            </a:r>
            <a:endParaRPr lang="zh-TW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4739971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2　選航線、設目標價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64792"/>
            <a:ext cx="6803136" cy="3210624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Dashboard：已輸入目標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28800"/>
            <a:ext cx="6675120" cy="308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40008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在東京卡片輸入目標價 10000，按「開始追蹤」</a:t>
            </a:r>
            <a:endParaRPr lang="zh-TW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82880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每條航線一張卡片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在「目標價 TWD」輸入你的預算，例如 10000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按「開始追蹤」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卡片上的「最後查詢」顯示目前最低價，可以幫你決定目標價要設多少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手機也好用</a:t>
            </a:r>
            <a:endParaRPr lang="zh-TW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zh-TW" altLang="en-US" sz="20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畫面會自動改成單欄排列</a:t>
            </a:r>
            <a:endParaRPr lang="zh-TW" sz="20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zh-TW" altLang="en-US" sz="20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設定目標價、付款、取消，都和電腦版一樣</a:t>
            </a:r>
            <a:endParaRPr lang="zh-TW" sz="20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zh-TW" altLang="en-US" sz="20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隨時隨地都能調整目標價</a:t>
            </a:r>
            <a:endParaRPr lang="zh-TW" sz="2000" dirty="0"/>
          </a:p>
        </p:txBody>
      </p:sp>
      <p:sp>
        <p:nvSpPr>
          <p:cNvPr id="4" name="Shape 2"/>
          <p:cNvSpPr/>
          <p:nvPr/>
        </p:nvSpPr>
        <p:spPr>
          <a:xfrm>
            <a:off x="8074152" y="1490472"/>
            <a:ext cx="2003903" cy="4471416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手機版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554480"/>
            <a:ext cx="1875887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　到綠界付款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5980176" cy="3586111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綠界收銀台：定期定額 NT$300，每 1 個月扣款 1 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91640"/>
            <a:ext cx="5852160" cy="34580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15495"/>
            <a:ext cx="5980176" cy="685800"/>
          </a:xfrm>
          <a:prstGeom prst="roundRect">
            <a:avLst>
              <a:gd name="adj" fmla="val 16000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515495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示範環境使用綠界測試特店與測試卡，不會真的扣款。</a:t>
            </a:r>
            <a:endParaRPr lang="zh-TW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69164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按下「開始追蹤」，自動跳轉到綠界（ECPay）收銀台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每月 NT$300，信用卡定期定額（每月扣 1 次）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卡號在綠界頁面輸入，付款完成後自動回到 Dashboard</a:t>
            </a:r>
            <a:endParaRPr lang="zh-TW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zh-TW" altLang="en-US" sz="16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中途離開也不怕：卡片會顯示「未完成付款」，按「完成付款」就能重試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付款完成，訂閱立即生效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5980176" cy="3297936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Dashboard：付款完成，已訂閱（有效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91640"/>
            <a:ext cx="5852160" cy="3169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90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東京卡片變成「已訂閱（有效）」，目前目標 NT$10,000</a:t>
            </a:r>
            <a:endParaRPr lang="zh-TW" sz="1300" dirty="0"/>
          </a:p>
        </p:txBody>
      </p:sp>
      <p:sp>
        <p:nvSpPr>
          <p:cNvPr id="6" name="Shape 3"/>
          <p:cNvSpPr/>
          <p:nvPr/>
        </p:nvSpPr>
        <p:spPr>
          <a:xfrm>
            <a:off x="6931152" y="1627632"/>
            <a:ext cx="4745736" cy="163146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訂閱成功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91640"/>
            <a:ext cx="4617720" cy="15034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49440" y="3652284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導回 Dashboard，顯示付款完成提示</a:t>
            </a:r>
            <a:endParaRPr lang="zh-TW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同時收到「訂閱成功」email</a:t>
            </a:r>
            <a:endParaRPr lang="zh-TW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信裡寫明每月 NT$300，服務至 2026/10/21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4　調整目標價與取消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667512" y="1536192"/>
            <a:ext cx="4882896" cy="2802636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取消訂閱確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754880" cy="2674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1112" y="1536192"/>
            <a:ext cx="4882896" cy="2802636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Dashboard：已取消，有效至 2026/10/2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754880" cy="2674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45034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按「取消訂閱」，再確認「確定取消 / 保留」</a:t>
            </a:r>
            <a:endParaRPr lang="zh-TW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45034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取消後標籤變成「已取消 · 有效至 2026/10/21」</a:t>
            </a:r>
            <a:endParaRPr lang="zh-TW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45211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更新目標價</a:t>
            </a:r>
            <a:endParaRPr lang="zh-TW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554480" y="5513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直接改數字按「更新目標價」，不用重新付款</a:t>
            </a:r>
            <a:endParaRPr lang="zh-TW" sz="1100" dirty="0"/>
          </a:p>
        </p:txBody>
      </p:sp>
      <p:sp>
        <p:nvSpPr>
          <p:cNvPr id="14" name="Shape 9"/>
          <p:cNvSpPr/>
          <p:nvPr/>
        </p:nvSpPr>
        <p:spPr>
          <a:xfrm>
            <a:off x="4334256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62856" y="5303520"/>
            <a:ext cx="594360" cy="59436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46" y="54521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0096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取消後仍有通知</a:t>
            </a:r>
            <a:endParaRPr lang="zh-TW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40096" y="5513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已付款的期間內照常收到降價通知</a:t>
            </a:r>
            <a:endParaRPr lang="zh-TW" sz="1100" dirty="0"/>
          </a:p>
        </p:txBody>
      </p:sp>
      <p:sp>
        <p:nvSpPr>
          <p:cNvPr id="19" name="Shape 13"/>
          <p:cNvSpPr/>
          <p:nvPr/>
        </p:nvSpPr>
        <p:spPr>
          <a:xfrm>
            <a:off x="8119872" y="5074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48472" y="5303520"/>
            <a:ext cx="594360" cy="59436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545211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25712" y="5184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隨時回來</a:t>
            </a:r>
            <a:endParaRPr lang="zh-TW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9125712" y="5513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到期後可按「重新訂閱」</a:t>
            </a:r>
            <a:endParaRPr lang="zh-TW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取消，不用擔心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6803136" cy="2664562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9525">
            <a:solidFill>
              <a:srgbClr val="CFDC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訂閱取消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91640"/>
            <a:ext cx="6675120" cy="25365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691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0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沒有綁約</a:t>
            </a:r>
            <a:endParaRPr lang="zh-TW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月訂閱制，不想用隨時停。</a:t>
            </a:r>
            <a:endParaRPr lang="zh-TW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731106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023714"/>
            <a:ext cx="640080" cy="64008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5183734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495970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已停止之後的扣款</a:t>
            </a:r>
            <a:endParaRPr lang="zh-TW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546262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不會再向你收費</a:t>
            </a:r>
            <a:endParaRPr lang="zh-TW" sz="1300" dirty="0"/>
          </a:p>
        </p:txBody>
      </p:sp>
      <p:sp>
        <p:nvSpPr>
          <p:cNvPr id="12" name="Shape 8"/>
          <p:cNvSpPr/>
          <p:nvPr/>
        </p:nvSpPr>
        <p:spPr>
          <a:xfrm>
            <a:off x="4334256" y="4731106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2856" y="5023714"/>
            <a:ext cx="640080" cy="64008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6" y="518373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85816" y="495970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已付款的期間內仍會收到通知</a:t>
            </a:r>
            <a:endParaRPr lang="zh-TW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385816" y="546262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直到 2026/10/21</a:t>
            </a:r>
            <a:endParaRPr lang="zh-TW" sz="1300" dirty="0"/>
          </a:p>
        </p:txBody>
      </p:sp>
      <p:sp>
        <p:nvSpPr>
          <p:cNvPr id="17" name="Shape 12"/>
          <p:cNvSpPr/>
          <p:nvPr/>
        </p:nvSpPr>
        <p:spPr>
          <a:xfrm>
            <a:off x="8119872" y="4731106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48472" y="5023714"/>
            <a:ext cx="640080" cy="640080"/>
          </a:xfrm>
          <a:prstGeom prst="ellipse">
            <a:avLst/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492" y="5183734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71432" y="495970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想再回來</a:t>
            </a:r>
            <a:endParaRPr lang="zh-TW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9171432" y="546262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隨時可以重新訂閱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66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</a:t>
            </a:r>
            <a:endParaRPr lang="zh-TW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現場示範完整流程</a:t>
            </a:r>
            <a:endParaRPr lang="zh-TW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zh-TW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</a:t>
            </a:r>
            <a:endParaRPr lang="zh-TW" sz="1800" dirty="0"/>
          </a:p>
        </p:txBody>
      </p:sp>
      <p:sp>
        <p:nvSpPr>
          <p:cNvPr id="7" name="Shape 5"/>
          <p:cNvSpPr/>
          <p:nvPr/>
        </p:nvSpPr>
        <p:spPr>
          <a:xfrm>
            <a:off x="2816352" y="37490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zh-TW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設定目標價</a:t>
            </a:r>
            <a:endParaRPr lang="zh-TW" sz="1800" dirty="0"/>
          </a:p>
        </p:txBody>
      </p:sp>
      <p:sp>
        <p:nvSpPr>
          <p:cNvPr id="10" name="Shape 8"/>
          <p:cNvSpPr/>
          <p:nvPr/>
        </p:nvSpPr>
        <p:spPr>
          <a:xfrm>
            <a:off x="5084064" y="37490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zh-TW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綠界付款</a:t>
            </a:r>
            <a:endParaRPr lang="zh-TW" sz="1800" dirty="0"/>
          </a:p>
        </p:txBody>
      </p:sp>
      <p:sp>
        <p:nvSpPr>
          <p:cNvPr id="13" name="Shape 11"/>
          <p:cNvSpPr/>
          <p:nvPr/>
        </p:nvSpPr>
        <p:spPr>
          <a:xfrm>
            <a:off x="7351776" y="37490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1776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zh-TW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已訂閱</a:t>
            </a:r>
            <a:endParaRPr lang="zh-TW" sz="1800" dirty="0"/>
          </a:p>
        </p:txBody>
      </p:sp>
      <p:sp>
        <p:nvSpPr>
          <p:cNvPr id="16" name="Shape 14"/>
          <p:cNvSpPr/>
          <p:nvPr/>
        </p:nvSpPr>
        <p:spPr>
          <a:xfrm>
            <a:off x="9619488" y="3749040"/>
            <a:ext cx="2011680" cy="1371600"/>
          </a:xfrm>
          <a:prstGeom prst="roundRect">
            <a:avLst>
              <a:gd name="adj" fmla="val 9333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2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zh-TW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19488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收到通知信</a:t>
            </a:r>
            <a:endParaRPr lang="zh-TW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背後怎麼運作（簡單版）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48740" y="1737360"/>
            <a:ext cx="731520" cy="73152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51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你設定目標價</a:t>
            </a:r>
            <a:endParaRPr lang="zh-TW" sz="1500" dirty="0"/>
          </a:p>
        </p:txBody>
      </p:sp>
      <p:sp>
        <p:nvSpPr>
          <p:cNvPr id="7" name="Shape 4"/>
          <p:cNvSpPr/>
          <p:nvPr/>
        </p:nvSpPr>
        <p:spPr>
          <a:xfrm>
            <a:off x="2953512" y="2514600"/>
            <a:ext cx="438912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465576" y="15544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65676" y="1737360"/>
            <a:ext cx="731520" cy="73152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57016" y="2651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系統每 30 分鐘查價</a:t>
            </a:r>
            <a:endParaRPr lang="zh-TW" sz="1500" dirty="0"/>
          </a:p>
        </p:txBody>
      </p:sp>
      <p:sp>
        <p:nvSpPr>
          <p:cNvPr id="12" name="Shape 8"/>
          <p:cNvSpPr/>
          <p:nvPr/>
        </p:nvSpPr>
        <p:spPr>
          <a:xfrm>
            <a:off x="5870448" y="2514600"/>
            <a:ext cx="438912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382512" y="15544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82612" y="1737360"/>
            <a:ext cx="731520" cy="73152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73952" y="2651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比對目標價</a:t>
            </a:r>
            <a:endParaRPr lang="zh-TW" sz="1500" dirty="0"/>
          </a:p>
          <a:p>
            <a:pPr algn="ctr" indent="0" marL="0">
              <a:buNone/>
            </a:pPr>
            <a:r>
              <a:rPr lang="zh-TW" altLang="en-US" sz="15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避免重複通知</a:t>
            </a:r>
            <a:endParaRPr lang="zh-TW" sz="1500" dirty="0"/>
          </a:p>
        </p:txBody>
      </p:sp>
      <p:sp>
        <p:nvSpPr>
          <p:cNvPr id="17" name="Shape 12"/>
          <p:cNvSpPr/>
          <p:nvPr/>
        </p:nvSpPr>
        <p:spPr>
          <a:xfrm>
            <a:off x="8787384" y="2514600"/>
            <a:ext cx="438912" cy="0"/>
          </a:xfrm>
          <a:prstGeom prst="line">
            <a:avLst/>
          </a:prstGeom>
          <a:noFill/>
          <a:ln w="25400">
            <a:solidFill>
              <a:srgbClr val="5A777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9299448" y="15544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099548" y="1737360"/>
            <a:ext cx="731520" cy="73152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428" y="19202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90888" y="2651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寄出通知信</a:t>
            </a:r>
            <a:endParaRPr lang="zh-TW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實測時間軸（2026/09/21）</a:t>
            </a:r>
            <a:endParaRPr lang="zh-TW" sz="1800" dirty="0"/>
          </a:p>
        </p:txBody>
      </p:sp>
      <p:sp>
        <p:nvSpPr>
          <p:cNvPr id="23" name="Shape 17"/>
          <p:cNvSpPr/>
          <p:nvPr/>
        </p:nvSpPr>
        <p:spPr>
          <a:xfrm>
            <a:off x="1280160" y="4983480"/>
            <a:ext cx="9601200" cy="0"/>
          </a:xfrm>
          <a:prstGeom prst="line">
            <a:avLst/>
          </a:prstGeom>
          <a:noFill/>
          <a:ln w="25400">
            <a:solidFill>
              <a:srgbClr val="B5C7C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618488" y="4864608"/>
            <a:ext cx="237744" cy="237744"/>
          </a:xfrm>
          <a:prstGeom prst="ellipse">
            <a:avLst/>
          </a:prstGeom>
          <a:solidFill>
            <a:srgbClr val="E23A36"/>
          </a:solidFill>
          <a:ln w="25400">
            <a:solidFill>
              <a:srgbClr val="F2F6F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21:28</a:t>
            </a:r>
            <a:endParaRPr lang="zh-TW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36576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付款完成</a:t>
            </a:r>
            <a:endParaRPr lang="zh-TW" sz="1500" dirty="0"/>
          </a:p>
        </p:txBody>
      </p:sp>
      <p:sp>
        <p:nvSpPr>
          <p:cNvPr id="27" name="Shape 21"/>
          <p:cNvSpPr/>
          <p:nvPr/>
        </p:nvSpPr>
        <p:spPr>
          <a:xfrm>
            <a:off x="5916168" y="4864608"/>
            <a:ext cx="237744" cy="237744"/>
          </a:xfrm>
          <a:prstGeom prst="ellipse">
            <a:avLst/>
          </a:prstGeom>
          <a:solidFill>
            <a:srgbClr val="E23A36"/>
          </a:solidFill>
          <a:ln w="25400">
            <a:solidFill>
              <a:srgbClr val="F2F6F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93776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21:28</a:t>
            </a:r>
            <a:endParaRPr lang="zh-TW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466344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收到訂閱成功信</a:t>
            </a:r>
            <a:endParaRPr lang="zh-TW" sz="1500" dirty="0"/>
          </a:p>
        </p:txBody>
      </p:sp>
      <p:sp>
        <p:nvSpPr>
          <p:cNvPr id="30" name="Shape 24"/>
          <p:cNvSpPr/>
          <p:nvPr/>
        </p:nvSpPr>
        <p:spPr>
          <a:xfrm>
            <a:off x="10213848" y="4864608"/>
            <a:ext cx="237744" cy="237744"/>
          </a:xfrm>
          <a:prstGeom prst="ellipse">
            <a:avLst/>
          </a:prstGeom>
          <a:solidFill>
            <a:srgbClr val="E23A36"/>
          </a:solidFill>
          <a:ln w="25400">
            <a:solidFill>
              <a:srgbClr val="F2F6F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3544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21:30</a:t>
            </a:r>
            <a:endParaRPr lang="zh-TW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896112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收到達標通知信</a:t>
            </a:r>
            <a:endParaRPr lang="zh-TW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5943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付款由綠界處理；只有通過驗證的付款結果，才會開通訂閱。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品質：91 項測試</a:t>
            </a:r>
            <a:endParaRPr lang="zh-TW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600" b="1" dirty="0">
                <a:solidFill>
                  <a:srgbClr val="1B6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88</a:t>
            </a:r>
            <a:endParaRPr lang="zh-TW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2148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／91</a:t>
            </a:r>
            <a:endParaRPr lang="zh-TW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項測試通過</a:t>
            </a:r>
            <a:endParaRPr lang="zh-TW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29768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D5E0E0"/>
          </a:solidFill>
          <a:ln w="12700">
            <a:solidFill>
              <a:srgbClr val="D5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297680"/>
            <a:ext cx="4531003" cy="365760"/>
          </a:xfrm>
          <a:prstGeom prst="roundRect">
            <a:avLst>
              <a:gd name="adj" fmla="val 50000"/>
            </a:avLst>
          </a:prstGeom>
          <a:solidFill>
            <a:srgbClr val="1B6A73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5363" y="4297680"/>
            <a:ext cx="132437" cy="365760"/>
          </a:xfrm>
          <a:prstGeom prst="roundRect">
            <a:avLst>
              <a:gd name="adj" fmla="val 138088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通過 88　　部分驗證 3　　失敗 0</a:t>
            </a:r>
            <a:endParaRPr lang="zh-TW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783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6000" b="1" dirty="0">
                <a:solidFill>
                  <a:srgbClr val="F2A6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zh-TW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項部分驗證</a:t>
            </a:r>
            <a:endParaRPr lang="zh-TW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只驗到一部分（例如僅程式碼審查）</a:t>
            </a:r>
            <a:endParaRPr lang="zh-TW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154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6000" b="1" dirty="0">
                <a:solidFill>
                  <a:srgbClr val="E23A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</a:t>
            </a:r>
            <a:endParaRPr lang="zh-TW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項失敗</a:t>
            </a:r>
            <a:endParaRPr lang="zh-TW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沒有任何測試項目失敗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7548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涵蓋登入、抓價比對、寄信去重、付費與安全</a:t>
            </a:r>
            <a:endParaRPr lang="zh-TW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包含綠界排程「真實續扣」的驗證</a:t>
            </a:r>
            <a:endParaRPr lang="zh-TW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測試中發現並修正 6 項缺陷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6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接下來</a:t>
            </a:r>
            <a:endParaRPr lang="zh-TW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F7A73"/>
          </a:solidFill>
          <a:ln w="12700">
            <a:solidFill>
              <a:srgbClr val="FF7A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改用正式綠界特店上線</a:t>
            </a:r>
            <a:endParaRPr lang="zh-TW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FF7A73"/>
          </a:solidFill>
          <a:ln w="12700">
            <a:solidFill>
              <a:srgbClr val="FF7A7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861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提升註冊確認信的送達率</a:t>
            </a:r>
            <a:endParaRPr lang="zh-TW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FF7A73"/>
          </a:solidFill>
          <a:ln w="12700">
            <a:solidFill>
              <a:srgbClr val="FF7A7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3886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更多出發地與航線</a:t>
            </a:r>
            <a:endParaRPr lang="zh-TW" sz="18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0F4A52"/>
          </a:solidFill>
          <a:ln w="12700">
            <a:solidFill>
              <a:srgbClr val="1B6A7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FF7A73"/>
          </a:solidFill>
          <a:ln w="12700">
            <a:solidFill>
              <a:srgbClr val="FF7A7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2806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信件與網站視覺統一</a:t>
            </a:r>
            <a:endParaRPr lang="zh-TW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223760" y="21031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8000" b="1" dirty="0">
                <a:solidFill>
                  <a:srgbClr val="FF7A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Q&amp;A</a:t>
            </a:r>
            <a:endParaRPr lang="zh-TW" sz="8000" dirty="0"/>
          </a:p>
        </p:txBody>
      </p:sp>
      <p:sp>
        <p:nvSpPr>
          <p:cNvPr id="20" name="Text 14"/>
          <p:cNvSpPr txBox="1"/>
          <p:nvPr/>
        </p:nvSpPr>
        <p:spPr>
          <a:xfrm>
            <a:off x="7223760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800" dirty="0">
                <a:solidFill>
                  <a:srgbClr val="F7F2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謝謝大家</a:t>
            </a:r>
            <a:endParaRPr lang="zh-TW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32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備用：常見問題</a:t>
            </a:r>
            <a:endParaRPr lang="zh-TW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802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556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　取消訂閱後，還會被扣款嗎？</a:t>
            </a:r>
            <a:endParaRPr lang="zh-TW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2677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不會。取消時會先通知綠界停止扣款，之後不再收費；已付款的期間內仍會收到通知。</a:t>
            </a:r>
            <a:endParaRPr lang="zh-TW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6347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3310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　會不會一直收到同一個價格的通知？</a:t>
            </a:r>
            <a:endParaRPr lang="zh-TW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38221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不會。同一個價格 24 小時內不重複寄；大幅降價（20% 或 NT$2,000 以上）才會再通知。</a:t>
            </a:r>
            <a:endParaRPr lang="zh-TW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66344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0E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E23A36"/>
          </a:solidFill>
          <a:ln w="12700">
            <a:solidFill>
              <a:srgbClr val="E23A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189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8646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rgbClr val="0B2A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　可以同時追蹤多條航線嗎？</a:t>
            </a:r>
            <a:endParaRPr lang="zh-TW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53766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rgbClr val="5A777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可以。每條航線各自設定目標價、各自訂閱，每條航線 NT$300／月。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77B"/>
                </a:solidFill>
                <a:latin typeface="PingFang TC"/>
                <a:ea typeface="PingFang TC"/>
                <a:cs typeface="PingFang T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Notifier 機票降價通知</dc:title>
  <dc:subject>PptxGenJS Presentation</dc:subject>
  <dc:creator>Flight Price Notifier</dc:creator>
  <cp:lastModifiedBy>Flight Price Notifier</cp:lastModifiedBy>
  <cp:revision>1</cp:revision>
  <dcterms:created xsi:type="dcterms:W3CDTF">2026-09-21T14:09:21Z</dcterms:created>
  <dcterms:modified xsi:type="dcterms:W3CDTF">2026-09-21T14:09:21Z</dcterms:modified>
</cp:coreProperties>
</file>